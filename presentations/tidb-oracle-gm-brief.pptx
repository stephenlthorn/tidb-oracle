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d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46304"/>
            <a:ext cx="1022723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568" y="128016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E96"/>
                </a:solidFill>
                <a:latin typeface="Aptos"/>
              </a:defRPr>
            </a:pPr>
            <a:r>
              <a:t>TiDB Oracle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12064"/>
            <a:ext cx="9144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97B"/>
                </a:solidFill>
                <a:latin typeface="Aptos"/>
              </a:defRPr>
            </a:pPr>
            <a:r>
              <a:t>Internal GTM copilot for answers, recommendations, and asset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02D"/>
                </a:solidFill>
                <a:latin typeface="Aptos"/>
              </a:defRPr>
            </a:pPr>
            <a:r>
              <a:t>What it is and 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02D"/>
                </a:solidFill>
                <a:latin typeface="Aptos"/>
              </a:defRPr>
            </a:pPr>
            <a:r>
              <a:t>One internal workspace that turns docs + call transcripts into grounded answers and next-step actions.</a:t>
            </a:r>
          </a:p>
          <a:p>
            <a:pPr>
              <a:spcAft>
                <a:spcPts val="800"/>
              </a:spcAft>
              <a:defRPr sz="1600">
                <a:solidFill>
                  <a:srgbClr val="18202D"/>
                </a:solidFill>
                <a:latin typeface="Aptos"/>
              </a:defRPr>
            </a:pPr>
            <a:r>
              <a:t>Outputs include follow-up emails, discovery questions, technical collateral, and account briefs.</a:t>
            </a:r>
          </a:p>
          <a:p>
            <a:pPr>
              <a:spcAft>
                <a:spcPts val="800"/>
              </a:spcAft>
              <a:defRPr sz="1600">
                <a:solidFill>
                  <a:srgbClr val="18202D"/>
                </a:solidFill>
                <a:latin typeface="Aptos"/>
              </a:defRPr>
            </a:pPr>
            <a:r>
              <a:t>Value to GTM: faster deal cycles, consistent technical messaging, and less manual prep per opportunity.</a:t>
            </a:r>
          </a:p>
          <a:p>
            <a:pPr>
              <a:spcAft>
                <a:spcPts val="800"/>
              </a:spcAft>
              <a:defRPr sz="1600">
                <a:solidFill>
                  <a:srgbClr val="18202D"/>
                </a:solidFill>
                <a:latin typeface="Aptos"/>
              </a:defRPr>
            </a:pPr>
            <a:r>
              <a:t>Every answer is evidence-backed with citations and full audit logs.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d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46304"/>
            <a:ext cx="1022723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568" y="128016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E96"/>
                </a:solidFill>
                <a:latin typeface="Aptos"/>
              </a:defRPr>
            </a:pPr>
            <a:r>
              <a:t>Simple Architecture: One Enterprise LLM +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12064"/>
            <a:ext cx="9144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97B"/>
                </a:solidFill>
                <a:latin typeface="Aptos"/>
              </a:defRPr>
            </a:pPr>
            <a:r>
              <a:t>Single-model path with internal TiDB knowledge grounding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02D"/>
                </a:solidFill>
                <a:latin typeface="Aptos"/>
              </a:defRPr>
            </a:pPr>
            <a:r>
              <a:t>Single LLM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8202D"/>
                </a:solidFill>
                <a:latin typeface="Aptos"/>
              </a:defRPr>
            </a:pPr>
            <a:r>
              <a:t>Use one enterprise-grade OpenAI model endpoint for all generation.</a:t>
            </a:r>
          </a:p>
          <a:p>
            <a:pPr>
              <a:spcAft>
                <a:spcPts val="800"/>
              </a:spcAft>
              <a:defRPr sz="1400">
                <a:solidFill>
                  <a:srgbClr val="18202D"/>
                </a:solidFill>
                <a:latin typeface="Aptos"/>
              </a:defRPr>
            </a:pPr>
            <a:r>
              <a:t>Business/API data is not used for model training by default.</a:t>
            </a:r>
          </a:p>
          <a:p>
            <a:pPr>
              <a:spcAft>
                <a:spcPts val="800"/>
              </a:spcAft>
              <a:defRPr sz="1400">
                <a:solidFill>
                  <a:srgbClr val="18202D"/>
                </a:solidFill>
                <a:latin typeface="Aptos"/>
              </a:defRPr>
            </a:pPr>
            <a:r>
              <a:t>Apply retention and storage controls from enterprise/API policy.</a:t>
            </a:r>
          </a:p>
          <a:p>
            <a:pPr>
              <a:spcAft>
                <a:spcPts val="800"/>
              </a:spcAft>
              <a:defRPr sz="1400">
                <a:solidFill>
                  <a:srgbClr val="18202D"/>
                </a:solidFill>
                <a:latin typeface="Aptos"/>
              </a:defRPr>
            </a:pPr>
            <a:r>
              <a:t>No consumer ChatGPT plan is used for this workload.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2763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02D"/>
                </a:solidFill>
                <a:latin typeface="Aptos"/>
              </a:defRPr>
            </a:pPr>
            <a:r>
              <a:t>MCP internal knowledge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8202D"/>
                </a:solidFill>
                <a:latin typeface="Aptos"/>
              </a:defRPr>
            </a:pPr>
            <a:r>
              <a:t>MCP server fronts the internal TiDB knowledge DB (docs + approved call transcripts).</a:t>
            </a:r>
          </a:p>
          <a:p>
            <a:pPr>
              <a:spcAft>
                <a:spcPts val="800"/>
              </a:spcAft>
              <a:defRPr sz="1400">
                <a:solidFill>
                  <a:srgbClr val="18202D"/>
                </a:solidFill>
                <a:latin typeface="Aptos"/>
              </a:defRPr>
            </a:pPr>
            <a:r>
              <a:t>Retriever sends only relevant chunks and metadata to the model.</a:t>
            </a:r>
          </a:p>
          <a:p>
            <a:pPr>
              <a:spcAft>
                <a:spcPts val="800"/>
              </a:spcAft>
              <a:defRPr sz="1400">
                <a:solidFill>
                  <a:srgbClr val="18202D"/>
                </a:solidFill>
                <a:latin typeface="Aptos"/>
              </a:defRPr>
            </a:pPr>
            <a:r>
              <a:t>Responses require citations back to internal chunk/document IDs.</a:t>
            </a:r>
          </a:p>
          <a:p>
            <a:pPr>
              <a:spcAft>
                <a:spcPts val="800"/>
              </a:spcAft>
              <a:defRPr sz="1400">
                <a:solidFill>
                  <a:srgbClr val="18202D"/>
                </a:solidFill>
                <a:latin typeface="Aptos"/>
              </a:defRPr>
            </a:pPr>
            <a:r>
              <a:t>Policy filters and redaction run before external API calls.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52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3E96"/>
                </a:solidFill>
                <a:latin typeface="Aptos"/>
              </a:defRPr>
            </a:pPr>
            <a:r>
              <a:t>Flow: user query -&gt; policy checks -&gt; MCP retrieval -&gt; enterprise LLM -&gt; cited output.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d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46304"/>
            <a:ext cx="1022723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568" y="128016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E96"/>
                </a:solidFill>
                <a:latin typeface="Aptos"/>
              </a:defRPr>
            </a:pPr>
            <a:r>
              <a:t>Guardrails for Prospect Calls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12064"/>
            <a:ext cx="9144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97B"/>
                </a:solidFill>
                <a:latin typeface="Aptos"/>
              </a:defRPr>
            </a:pPr>
            <a:r>
              <a:t>How we protect sensitive prospect data with one LLM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10972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4241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02D"/>
                </a:solidFill>
                <a:latin typeface="Aptos"/>
              </a:defRPr>
            </a:pPr>
            <a:r>
              <a:t>Only prospect calls with valid recording consent are eligible for ingestion and analysis.</a:t>
            </a:r>
          </a:p>
          <a:p>
            <a:pPr>
              <a:spcAft>
                <a:spcPts val="800"/>
              </a:spcAft>
              <a:defRPr sz="1500">
                <a:solidFill>
                  <a:srgbClr val="18202D"/>
                </a:solidFill>
                <a:latin typeface="Aptos"/>
              </a:defRPr>
            </a:pPr>
            <a:r>
              <a:t>All-party consent states (for example CA and WA) must be handled with stricter notice controls.</a:t>
            </a:r>
          </a:p>
          <a:p>
            <a:pPr>
              <a:spcAft>
                <a:spcPts val="800"/>
              </a:spcAft>
              <a:defRPr sz="1500">
                <a:solidFill>
                  <a:srgbClr val="18202D"/>
                </a:solidFill>
                <a:latin typeface="Aptos"/>
              </a:defRPr>
            </a:pPr>
            <a:r>
              <a:t>No existing customer private data is included unless it is already public marketing content.</a:t>
            </a:r>
          </a:p>
          <a:p>
            <a:pPr>
              <a:spcAft>
                <a:spcPts val="800"/>
              </a:spcAft>
              <a:defRPr sz="1500">
                <a:solidFill>
                  <a:srgbClr val="18202D"/>
                </a:solidFill>
                <a:latin typeface="Aptos"/>
              </a:defRPr>
            </a:pPr>
            <a:r>
              <a:t>Internal-only access via OAuth/SSO; outbound messages restricted to @pingcap.com.</a:t>
            </a:r>
          </a:p>
          <a:p>
            <a:pPr>
              <a:spcAft>
                <a:spcPts val="800"/>
              </a:spcAft>
              <a:defRPr sz="1500">
                <a:solidFill>
                  <a:srgbClr val="18202D"/>
                </a:solidFill>
                <a:latin typeface="Aptos"/>
              </a:defRPr>
            </a:pPr>
            <a:r>
              <a:t>Every generated asset includes retrieval citations and audit logs for traceability.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d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46304"/>
            <a:ext cx="1022723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568" y="128016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E96"/>
                </a:solidFill>
                <a:latin typeface="Aptos"/>
              </a:defRPr>
            </a:pPr>
            <a:r>
              <a:t>Cost Model (AWS VM + One Enterprise LLM)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12064"/>
            <a:ext cx="9144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97B"/>
                </a:solidFill>
                <a:latin typeface="Aptos"/>
              </a:defRPr>
            </a:pPr>
            <a:r>
              <a:t>Simpler operating model with one model path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463040"/>
          <a:ext cx="1069848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194560"/>
                <a:gridCol w="2834640"/>
              </a:tblGrid>
              <a:tr h="4521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Line Item</a:t>
                      </a:r>
                    </a:p>
                  </a:txBody>
                  <a:tcPr>
                    <a:solidFill>
                      <a:srgbClr val="183E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Monthly (USD)</a:t>
                      </a:r>
                    </a:p>
                  </a:txBody>
                  <a:tcPr>
                    <a:solidFill>
                      <a:srgbClr val="183E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Annual (USD)</a:t>
                      </a:r>
                    </a:p>
                  </a:txBody>
                  <a:tcPr>
                    <a:solidFill>
                      <a:srgbClr val="183E96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App/API/UI VM (t3.xlarge)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$121.91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$1,462.92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Storage + networking +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$79.72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$956.64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ChatGPT Business seats (20 users @ $25)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$500.00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$6,000.00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Enterprise LLM API usage budget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$250.00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$3,000.00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Backups + operating reserve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$19.00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$228.00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Total operating cost</a:t>
                      </a:r>
                    </a:p>
                  </a:txBody>
                  <a:tcPr>
                    <a:solidFill>
                      <a:srgbClr val="EC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$970.63</a:t>
                      </a:r>
                    </a:p>
                  </a:txBody>
                  <a:tcPr>
                    <a:solidFill>
                      <a:srgbClr val="EC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$11,647.56</a:t>
                      </a:r>
                    </a:p>
                  </a:txBody>
                  <a:tcPr>
                    <a:solidFill>
                      <a:srgbClr val="ECF2FF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With 20% contingency</a:t>
                      </a:r>
                    </a:p>
                  </a:txBody>
                  <a:tcPr>
                    <a:solidFill>
                      <a:srgbClr val="EC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$1,164.76</a:t>
                      </a:r>
                    </a:p>
                  </a:txBody>
                  <a:tcPr>
                    <a:solidFill>
                      <a:srgbClr val="EC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$13,977.07</a:t>
                      </a:r>
                    </a:p>
                  </a:txBody>
                  <a:tcPr>
                    <a:solidFill>
                      <a:srgbClr val="ECF2FF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Typical single GTM technical hire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202D"/>
                          </a:solidFill>
                          <a:latin typeface="Aptos"/>
                        </a:defRPr>
                      </a:pPr>
                      <a:r>
                        <a:t>$200,000+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7150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97B"/>
                </a:solidFill>
                <a:latin typeface="Aptos"/>
              </a:defRPr>
            </a:pPr>
            <a:r>
              <a:t>Seat baseline uses published ChatGPT Business pricing; swap this row with enterprise contract pricing when finalized.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d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46304"/>
            <a:ext cx="1022723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568" y="128016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E96"/>
                </a:solidFill>
                <a:latin typeface="Aptos"/>
              </a:defRPr>
            </a:pPr>
            <a:r>
              <a:t>Rollout + Exit Plan +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12064"/>
            <a:ext cx="9144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97B"/>
                </a:solidFill>
                <a:latin typeface="Aptos"/>
              </a:defRPr>
            </a:pPr>
            <a:r>
              <a:t>Start fast, measure value, and stop anytime if it is not working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02D"/>
                </a:solidFill>
                <a:latin typeface="Aptos"/>
              </a:defRPr>
            </a:pPr>
            <a:r>
              <a:t>90-day rollout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8202D"/>
                </a:solidFill>
                <a:latin typeface="Aptos"/>
              </a:defRPr>
            </a:pPr>
            <a:r>
              <a:t>Days 0-30: secure MVP, ingest core docs/transcripts, enable pilot reps and SEs.</a:t>
            </a:r>
          </a:p>
          <a:p>
            <a:pPr>
              <a:spcAft>
                <a:spcPts val="800"/>
              </a:spcAft>
              <a:defRPr sz="1400">
                <a:solidFill>
                  <a:srgbClr val="18202D"/>
                </a:solidFill>
                <a:latin typeface="Aptos"/>
              </a:defRPr>
            </a:pPr>
            <a:r>
              <a:t>Days 31-60: launch coaching + asset workflows and tune retrieval quality.</a:t>
            </a:r>
          </a:p>
          <a:p>
            <a:pPr>
              <a:spcAft>
                <a:spcPts val="800"/>
              </a:spcAft>
              <a:defRPr sz="1400">
                <a:solidFill>
                  <a:srgbClr val="18202D"/>
                </a:solidFill>
                <a:latin typeface="Aptos"/>
              </a:defRPr>
            </a:pPr>
            <a:r>
              <a:t>Days 61-90: scale to broader GTM teams with KPI reporting.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2763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02D"/>
                </a:solidFill>
                <a:latin typeface="Aptos"/>
              </a:defRPr>
            </a:pPr>
            <a:r>
              <a:t>Cancel anytime + key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8202D"/>
                </a:solidFill>
                <a:latin typeface="Aptos"/>
              </a:defRPr>
            </a:pPr>
            <a:r>
              <a:t>No long-term lock-in required for this architecture.</a:t>
            </a:r>
          </a:p>
          <a:p>
            <a:pPr>
              <a:spcAft>
                <a:spcPts val="800"/>
              </a:spcAft>
              <a:defRPr sz="1400">
                <a:solidFill>
                  <a:srgbClr val="18202D"/>
                </a:solidFill>
                <a:latin typeface="Aptos"/>
              </a:defRPr>
            </a:pPr>
            <a:r>
              <a:t>If value is weak, we can stop quickly and retain internal artifacts/logs.</a:t>
            </a:r>
          </a:p>
          <a:p>
            <a:pPr>
              <a:spcAft>
                <a:spcPts val="800"/>
              </a:spcAft>
              <a:defRPr sz="1400">
                <a:solidFill>
                  <a:srgbClr val="18202D"/>
                </a:solidFill>
                <a:latin typeface="Aptos"/>
              </a:defRPr>
            </a:pPr>
            <a:r>
              <a:t>OpenAI Enterprise Privacy (Jan 8, 2026): openai.com/enterprise-privacy</a:t>
            </a:r>
          </a:p>
          <a:p>
            <a:pPr>
              <a:spcAft>
                <a:spcPts val="800"/>
              </a:spcAft>
              <a:defRPr sz="1400">
                <a:solidFill>
                  <a:srgbClr val="18202D"/>
                </a:solidFill>
                <a:latin typeface="Aptos"/>
              </a:defRPr>
            </a:pPr>
            <a:r>
              <a:t>OpenAI API data controls: platform.openai.com/docs/guides/your-data</a:t>
            </a:r>
          </a:p>
          <a:p>
            <a:pPr>
              <a:spcAft>
                <a:spcPts val="800"/>
              </a:spcAft>
              <a:defRPr sz="1400">
                <a:solidFill>
                  <a:srgbClr val="18202D"/>
                </a:solidFill>
                <a:latin typeface="Aptos"/>
              </a:defRPr>
            </a:pPr>
            <a:r>
              <a:t>OpenAI Services Agreement (Jan 1, 2026): openai.com/policies/services-agreement</a:t>
            </a:r>
          </a:p>
          <a:p>
            <a:pPr>
              <a:spcAft>
                <a:spcPts val="800"/>
              </a:spcAft>
              <a:defRPr sz="1400">
                <a:solidFill>
                  <a:srgbClr val="18202D"/>
                </a:solidFill>
                <a:latin typeface="Aptos"/>
              </a:defRPr>
            </a:pPr>
            <a:r>
              <a:t>MCP spec: modelcontextprotocol.io/introduction</a:t>
            </a:r>
          </a:p>
          <a:p>
            <a:pPr>
              <a:spcAft>
                <a:spcPts val="800"/>
              </a:spcAft>
              <a:defRPr sz="1400">
                <a:solidFill>
                  <a:srgbClr val="18202D"/>
                </a:solidFill>
                <a:latin typeface="Aptos"/>
              </a:defRPr>
            </a:pPr>
            <a:r>
              <a:t>Consent laws: 18 U.S.C. 2511, CA Penal Code 632, WA RCW 9.73.030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97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9C52"/>
                </a:solidFill>
                <a:latin typeface="Aptos"/>
              </a:defRPr>
            </a:pPr>
            <a:r>
              <a:t>Decision framing: high upside, low operating cost, and reversible at any 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